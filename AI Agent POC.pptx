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embeddedFontLst>
    <p:embeddedFont>
      <p:font typeface="Calibri" panose="020F0502020204030204"/>
      <p:regular r:id="rId17"/>
      <p:bold r:id="rId18"/>
      <p:italic r:id="rId19"/>
      <p:boldItalic r:id="rId20"/>
    </p:embeddedFont>
    <p:embeddedFont>
      <p:font typeface="Inter" panose="02000503000000020004"/>
      <p:regular r:id="rId21"/>
      <p:bold r:id="rId22"/>
      <p:italic r:id="rId23"/>
      <p:boldItalic r:id="rId24"/>
    </p:embeddedFont>
    <p:embeddedFont>
      <p:font typeface="Inter SemiBold" panose="02000503000000020004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6EFCD42-BEB8-4E43-8AB3-FA6A1608F27C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7" name="Google Shape;117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" name="Google Shape;185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3" name="Google Shape;213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5" name="Google Shape;235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4" name="Google Shape;254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6" name="Google Shape;266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22.png"/><Relationship Id="rId2" Type="http://schemas.openxmlformats.org/officeDocument/2006/relationships/image" Target="../media/image4.png"/><Relationship Id="rId19" Type="http://schemas.openxmlformats.org/officeDocument/2006/relationships/image" Target="../media/image21.png"/><Relationship Id="rId18" Type="http://schemas.openxmlformats.org/officeDocument/2006/relationships/image" Target="../media/image20.png"/><Relationship Id="rId17" Type="http://schemas.openxmlformats.org/officeDocument/2006/relationships/image" Target="../media/image19.png"/><Relationship Id="rId16" Type="http://schemas.openxmlformats.org/officeDocument/2006/relationships/image" Target="../media/image18.png"/><Relationship Id="rId15" Type="http://schemas.openxmlformats.org/officeDocument/2006/relationships/image" Target="../media/image17.png"/><Relationship Id="rId14" Type="http://schemas.openxmlformats.org/officeDocument/2006/relationships/image" Target="../media/image16.png"/><Relationship Id="rId13" Type="http://schemas.openxmlformats.org/officeDocument/2006/relationships/image" Target="../media/image15.png"/><Relationship Id="rId12" Type="http://schemas.openxmlformats.org/officeDocument/2006/relationships/image" Target="../media/image14.png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7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50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png"/><Relationship Id="rId8" Type="http://schemas.openxmlformats.org/officeDocument/2006/relationships/image" Target="../media/image55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57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657576" y="2377529"/>
            <a:ext cx="28765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758742" y="2949029"/>
            <a:ext cx="8674365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4F46E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📱 Telecom AI Agent POC</a:t>
            </a:r>
            <a:endParaRPr lang="en-US" sz="5400" b="1" i="0" u="none" strike="noStrike" cap="none">
              <a:solidFill>
                <a:srgbClr val="4F46E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965275" y="3931890"/>
            <a:ext cx="82613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Architecture, AI Workflow, and System Design</a:t>
            </a:r>
            <a:endParaRPr lang="en-US" sz="1950" b="0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762500" y="1583977"/>
            <a:ext cx="26670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809750" y="2641252"/>
            <a:ext cx="85725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809750" y="5755927"/>
            <a:ext cx="85725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111150" y="3917602"/>
            <a:ext cx="26670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111150" y="4974877"/>
            <a:ext cx="26670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389739" y="3917602"/>
            <a:ext cx="271462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075414" y="4974877"/>
            <a:ext cx="334327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6010275" y="2269777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5056505" y="1769715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4441507" y="2869852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4824412" y="594166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2358925" y="3546127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2373213" y="4603402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6010126" y="3546127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9661326" y="3546127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9661326" y="460340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16"/>
          <a:srcRect/>
          <a:stretch>
            <a:fillRect/>
          </a:stretch>
        </p:blipFill>
        <p:spPr>
          <a:xfrm>
            <a:off x="2125563" y="410334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17"/>
          <a:srcRect/>
          <a:stretch>
            <a:fillRect/>
          </a:stretch>
        </p:blipFill>
        <p:spPr>
          <a:xfrm>
            <a:off x="1373088" y="516061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18"/>
          <a:srcRect/>
          <a:stretch>
            <a:fillRect/>
          </a:stretch>
        </p:blipFill>
        <p:spPr>
          <a:xfrm>
            <a:off x="5190341" y="4002057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19"/>
          <a:srcRect/>
          <a:stretch>
            <a:fillRect/>
          </a:stretch>
        </p:blipFill>
        <p:spPr>
          <a:xfrm>
            <a:off x="8599289" y="4103340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20"/>
          <a:srcRect/>
          <a:stretch>
            <a:fillRect/>
          </a:stretch>
        </p:blipFill>
        <p:spPr>
          <a:xfrm>
            <a:off x="8224004" y="516061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762000" y="559147"/>
            <a:ext cx="11201400" cy="66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4338CA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1.  High-Level System Architecture</a:t>
            </a:r>
            <a:endParaRPr lang="en-US" sz="3600" b="0" i="0" u="none" strike="noStrike" cap="none">
              <a:solidFill>
                <a:srgbClr val="4338CA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2000" y="2045940"/>
            <a:ext cx="5048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2045940"/>
            <a:ext cx="5048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762000" y="1455390"/>
            <a:ext cx="10668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use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Ollama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to run models locally within the Docker network, ensuring data privacy and operational control.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1152525" y="2436465"/>
            <a:ext cx="44805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LLM: qwen2.5:7b</a:t>
            </a:r>
            <a:endParaRPr lang="en-US" sz="2100" b="0" i="0" u="none" strike="noStrike" cap="none">
              <a:solidFill>
                <a:srgbClr val="1E293B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6772275" y="2436465"/>
            <a:ext cx="448056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Embeddings: nomic-embed-text</a:t>
            </a:r>
            <a:endParaRPr lang="en-US" sz="2100" b="0" i="0" u="none" strike="noStrike" cap="none">
              <a:solidFill>
                <a:srgbClr val="1E293B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495425" y="2912715"/>
            <a:ext cx="3924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Highly capable open-weights model in the 7B parameter class.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1495425" y="3712815"/>
            <a:ext cx="3924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Exceptional at strict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tool calling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(function calling) and following complex system prompts.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1495425" y="4817715"/>
            <a:ext cx="3924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Efficient enough to run on local hardware (GPUs or modern CPUs).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7115175" y="3236565"/>
            <a:ext cx="3924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Produces highly contextual 768-dimensional vectors.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7115175" y="4036665"/>
            <a:ext cx="3924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Extremely fast for both ingestion and retrieval.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7115175" y="4836765"/>
            <a:ext cx="3924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Perfectly optimized for a rapid RAG (Retrieval-Augmented Generation) architecture.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762000" y="525809"/>
            <a:ext cx="11201400" cy="66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4338CA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2. Models &amp; Hardware Selection</a:t>
            </a:r>
            <a:endParaRPr lang="en-US" sz="3600" b="0" i="0" u="none" strike="noStrike" cap="none">
              <a:solidFill>
                <a:srgbClr val="4338CA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pic>
        <p:nvPicPr>
          <p:cNvPr id="132" name="Google Shape;132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52525" y="306384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52525" y="386394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52525" y="496884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72275" y="337753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72275" y="41674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72275" y="494725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2000" y="1501080"/>
            <a:ext cx="3048000" cy="43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191000" y="1501080"/>
            <a:ext cx="7239000" cy="430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1000125" y="1739205"/>
            <a:ext cx="270033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F46E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AgentState </a:t>
            </a:r>
            <a:r>
              <a:rPr lang="en-US" sz="1650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(TypedDict)</a:t>
            </a:r>
            <a:endParaRPr lang="en-US" sz="1650" b="0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1000125" y="2082105"/>
            <a:ext cx="2571750" cy="1905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7" name="Google Shape;147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200525" y="1510605"/>
            <a:ext cx="72199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/>
          <p:nvPr/>
        </p:nvSpPr>
        <p:spPr>
          <a:xfrm>
            <a:off x="1000125" y="2291655"/>
            <a:ext cx="2571750" cy="81915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1095375" y="2386905"/>
            <a:ext cx="23812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messages: List[AnyMessage]</a:t>
            </a:r>
            <a:endParaRPr lang="en-US" sz="1500" b="0" i="0" u="none" strike="noStrike" cap="none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1000125" y="3225105"/>
            <a:ext cx="25717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1095375" y="3320355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customer_id: int</a:t>
            </a:r>
            <a:endParaRPr lang="en-US" sz="1500" b="0" i="0" u="none" strike="noStrike" cap="none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1000125" y="3853755"/>
            <a:ext cx="25717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1095375" y="3949005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step_count: int</a:t>
            </a:r>
            <a:endParaRPr lang="en-US" sz="1500" b="0" i="0" u="none" strike="noStrike" cap="none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1000125" y="4482405"/>
            <a:ext cx="2571750" cy="81915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1095375" y="4577655"/>
            <a:ext cx="23812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pending_action: dict | None</a:t>
            </a:r>
            <a:endParaRPr lang="en-US" sz="1500" b="0" i="0" u="none" strike="noStrike" cap="none">
              <a:solidFill>
                <a:srgbClr val="334155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1000125" y="3101280"/>
            <a:ext cx="2571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1000125" y="3729930"/>
            <a:ext cx="2571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1000125" y="4358580"/>
            <a:ext cx="2571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1000125" y="5292030"/>
            <a:ext cx="2571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762000" y="571500"/>
            <a:ext cx="11201400" cy="66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4338CA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3. LangGraph Orchestration Workflow</a:t>
            </a:r>
            <a:endParaRPr lang="en-US" sz="3600" b="0" i="0" u="none" strike="noStrike" cap="none">
              <a:solidFill>
                <a:srgbClr val="4338CA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2000" y="1683997"/>
            <a:ext cx="4020150" cy="476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163150" y="1684000"/>
            <a:ext cx="3601075" cy="476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976674" y="1684000"/>
            <a:ext cx="2986725" cy="476954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762000" y="103629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Our Knowledge Base relies on PostgreSQL with the powerful pgvector extension.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70" name="Google Shape;170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57275" y="207451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1057275" y="3065115"/>
            <a:ext cx="36010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Chunking Strategy</a:t>
            </a:r>
            <a:endParaRPr lang="en-US" sz="2100" b="0" i="0" u="none" strike="noStrike" cap="none">
              <a:solidFill>
                <a:srgbClr val="1E293B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1057275" y="3541365"/>
            <a:ext cx="34296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500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se RecursiveCharacterTextSplitter with chunk_size=1000 and chunk_overlap=200. This ensures vital context across pages is never lost.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73" name="Google Shape;173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458420" y="207451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5458420" y="3065115"/>
            <a:ext cx="350106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Retrieval Engine</a:t>
            </a:r>
            <a:endParaRPr lang="en-US" sz="2100" b="0" i="0" u="none" strike="noStrike" cap="none">
              <a:solidFill>
                <a:srgbClr val="1E293B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5370497" y="3541365"/>
            <a:ext cx="33342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PDFs and text snippets are vectorized into 768-D arrays. </a:t>
            </a:r>
            <a:r>
              <a:rPr lang="en-US" sz="1500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500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tilize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Cosine Distance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(similarity_search_with_score) for lightning-fast matching.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76" name="Google Shape;176;p1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254361" y="207451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9205280" y="3045200"/>
            <a:ext cx="1438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Strict Filtering</a:t>
            </a:r>
            <a:endParaRPr lang="en-US" sz="2100" b="0" i="0" u="none" strike="noStrike" cap="none">
              <a:solidFill>
                <a:srgbClr val="1E293B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9136177" y="3900375"/>
            <a:ext cx="26841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We strictly filter out chunks with a cosine distance &gt; 0.5. This guarantees the model doesn't hallucinate based on loosely related text.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79" name="Google Shape;179;p17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247775" y="226501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5625107" y="226501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9427277" y="226501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762000" y="106709"/>
            <a:ext cx="11201400" cy="66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4338CA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4. Retrieval-Augmented Generation</a:t>
            </a:r>
            <a:endParaRPr lang="en-US" sz="3600" b="0" i="0" u="none" strike="noStrike" cap="none">
              <a:solidFill>
                <a:srgbClr val="4338CA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2000" y="1118375"/>
            <a:ext cx="5048250" cy="562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1118375"/>
            <a:ext cx="5048250" cy="562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1152525" y="1426815"/>
            <a:ext cx="44805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Explicit Agent Tools</a:t>
            </a:r>
            <a:endParaRPr lang="en-US" sz="2100" b="0" i="0" u="none" strike="noStrike" cap="none">
              <a:solidFill>
                <a:srgbClr val="1E293B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1152525" y="190306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Agent is restricted to 5 tools to prevent hallucination: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6772275" y="1426815"/>
            <a:ext cx="44805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Instruction Rules</a:t>
            </a:r>
            <a:endParaRPr lang="en-US" sz="2100" b="0" i="0" u="none" strike="noStrike" cap="none">
              <a:solidFill>
                <a:srgbClr val="1E293B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6772275" y="190306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System Prompts strictly guide behavior: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1495425" y="2665065"/>
            <a:ext cx="3924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get_customer_package: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Retrieves active plan.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1495425" y="3465165"/>
            <a:ext cx="3924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get_data_balance: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Retrieves exact GB balance.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1495425" y="4265265"/>
            <a:ext cx="3924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change_customer_package: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Initiates plan migration.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1495425" y="5065365"/>
            <a:ext cx="3924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create_support_ticket: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Files formal tickets.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1495425" y="5865465"/>
            <a:ext cx="3924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retrieve_context: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Queries the RAG Vector DB.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7115175" y="2360265"/>
            <a:ext cx="3924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Rule 1: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Never make up policies. Only cite sources returned by the retrieve_context tool.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7115175" y="3465165"/>
            <a:ext cx="3924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Rule 2: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Do not execute destructive actions without explicit user confirmation.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7115175" y="4265265"/>
            <a:ext cx="3924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Rule 3: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Always prompt the user for missing tool parameters before executing a call.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762000" y="106709"/>
            <a:ext cx="11201400" cy="66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4338CA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5. Tools &amp; System Instructions</a:t>
            </a:r>
            <a:endParaRPr lang="en-US" sz="3600" b="0" i="0" u="none" strike="noStrike" cap="none">
              <a:solidFill>
                <a:srgbClr val="4338CA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pic>
        <p:nvPicPr>
          <p:cNvPr id="203" name="Google Shape;203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52525" y="283651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52525" y="363661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52525" y="443671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52525" y="521649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52525" y="603691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772275" y="251711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772275" y="35959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772275" y="440623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2000" y="2093565"/>
            <a:ext cx="3302049" cy="42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445049" y="2093565"/>
            <a:ext cx="3302049" cy="42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8099" y="2093565"/>
            <a:ext cx="3302049" cy="424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/>
          <p:nvPr/>
        </p:nvSpPr>
        <p:spPr>
          <a:xfrm>
            <a:off x="762000" y="1445865"/>
            <a:ext cx="10668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</a:t>
            </a:r>
            <a:r>
              <a:rPr lang="en-US" sz="1500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mplemented a custom, state-of-the-art telemetry system to monitor LLM behavior.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20" name="Google Shape;220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57275" y="248409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 txBox="1"/>
          <p:nvPr/>
        </p:nvSpPr>
        <p:spPr>
          <a:xfrm>
            <a:off x="1057275" y="3474690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Context Tracking</a:t>
            </a:r>
            <a:endParaRPr lang="en-US" sz="2100" b="0" i="0" u="none" strike="noStrike" cap="none">
              <a:solidFill>
                <a:srgbClr val="1E293B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1057275" y="3950940"/>
            <a:ext cx="27114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Uses Python's ContextVar to track unique request_ids asynchronously across complex LangGraph node traversals.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23" name="Google Shape;223;p19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740324" y="248409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4740324" y="3474690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Trace Assembly</a:t>
            </a:r>
            <a:endParaRPr lang="en-US" sz="2100" b="0" i="0" u="none" strike="noStrike" cap="none">
              <a:solidFill>
                <a:srgbClr val="1E293B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4740324" y="3950940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Captures ENTER, TOOL_CALL, RAG_QUERY, and LLM_RESPONSE events in real-time in memory.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26" name="Google Shape;226;p19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423374" y="248409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9"/>
          <p:cNvSpPr txBox="1"/>
          <p:nvPr/>
        </p:nvSpPr>
        <p:spPr>
          <a:xfrm>
            <a:off x="8423374" y="3474690"/>
            <a:ext cx="2847074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Database Persistence</a:t>
            </a:r>
            <a:endParaRPr lang="en-US" sz="2100" b="0" i="0" u="none" strike="noStrike" cap="none">
              <a:solidFill>
                <a:srgbClr val="1E293B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8423374" y="4274790"/>
            <a:ext cx="27114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On REQUEST_END, the assembled JSON trace is permanently written to PostgreSQL for Admins to view in a color-coded UI.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29" name="Google Shape;229;p19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247775" y="267459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9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4907012" y="267459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9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8637686" y="267459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 txBox="1"/>
          <p:nvPr/>
        </p:nvSpPr>
        <p:spPr>
          <a:xfrm>
            <a:off x="762000" y="516284"/>
            <a:ext cx="11201400" cy="66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4338CA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6. Observability &amp; Logging</a:t>
            </a:r>
            <a:endParaRPr lang="en-US" sz="3600" b="0" i="0" u="none" strike="noStrike" cap="none">
              <a:solidFill>
                <a:srgbClr val="4338CA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2000" y="1612552"/>
            <a:ext cx="10668000" cy="509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762000" y="1079152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Alongside vector storage, Postgres handles all structured business logic securely.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aphicFrame>
        <p:nvGraphicFramePr>
          <p:cNvPr id="240" name="Google Shape;240;p20"/>
          <p:cNvGraphicFramePr/>
          <p:nvPr/>
        </p:nvGraphicFramePr>
        <p:xfrm>
          <a:off x="771525" y="1622077"/>
          <a:ext cx="10648950" cy="5076775"/>
        </p:xfrm>
        <a:graphic>
          <a:graphicData uri="http://schemas.openxmlformats.org/drawingml/2006/table">
            <a:tbl>
              <a:tblPr firstRow="1" bandRow="1">
                <a:noFill/>
                <a:tableStyleId>{76EFCD42-BEB8-4E43-8AB3-FA6A1608F27C}</a:tableStyleId>
              </a:tblPr>
              <a:tblGrid>
                <a:gridCol w="3194600"/>
                <a:gridCol w="7454350"/>
              </a:tblGrid>
              <a:tr h="846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Inter SemiBold" panose="02000503000000020004"/>
                          <a:ea typeface="Inter SemiBold" panose="02000503000000020004"/>
                          <a:cs typeface="Inter SemiBold" panose="02000503000000020004"/>
                          <a:sym typeface="Inter SemiBold" panose="02000503000000020004"/>
                        </a:rPr>
                        <a:t>Table Name</a:t>
                      </a:r>
                      <a:endParaRPr lang="en-US" sz="1500" b="0" i="0" u="none" strike="noStrike" cap="none">
                        <a:solidFill>
                          <a:srgbClr val="1E293B"/>
                        </a:solidFill>
                        <a:latin typeface="Inter SemiBold" panose="02000503000000020004"/>
                        <a:ea typeface="Inter SemiBold" panose="02000503000000020004"/>
                        <a:cs typeface="Inter SemiBold" panose="02000503000000020004"/>
                        <a:sym typeface="Inter SemiBold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Inter SemiBold" panose="02000503000000020004"/>
                          <a:ea typeface="Inter SemiBold" panose="02000503000000020004"/>
                          <a:cs typeface="Inter SemiBold" panose="02000503000000020004"/>
                          <a:sym typeface="Inter SemiBold" panose="02000503000000020004"/>
                        </a:rPr>
                        <a:t>Purpose / Description</a:t>
                      </a:r>
                      <a:endParaRPr lang="en-US" sz="1500" b="0" i="0" u="none" strike="noStrike" cap="none">
                        <a:solidFill>
                          <a:srgbClr val="1E293B"/>
                        </a:solidFill>
                        <a:latin typeface="Inter SemiBold" panose="02000503000000020004"/>
                        <a:ea typeface="Inter SemiBold" panose="02000503000000020004"/>
                        <a:cs typeface="Inter SemiBold" panose="02000503000000020004"/>
                        <a:sym typeface="Inter SemiBold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  <a:tr h="846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users</a:t>
                      </a:r>
                      <a:endParaRPr lang="en-US" sz="1500" b="1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Manages authentication, passwords, and Role-Based Access (Admin vs Customer).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46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customer_data</a:t>
                      </a:r>
                      <a:endParaRPr lang="en-US" sz="1500" b="1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The mock CRM containing real-time data balances and active customer packages.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46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chat_history</a:t>
                      </a:r>
                      <a:endParaRPr lang="en-US" sz="1500" b="1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Persistent, chronologically ordered chat logs for UI rendering and contextual memory.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46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support_tickets</a:t>
                      </a:r>
                      <a:endParaRPr lang="en-US" sz="1500" b="1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Tracks customer complaints, detailed descriptions, and resolution statuses.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46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orchestration_logs</a:t>
                      </a:r>
                      <a:endParaRPr lang="en-US" sz="1500" b="1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Stores persistent JSONB telemetry traces for the Observability dashboard.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1" name="Google Shape;241;p20"/>
          <p:cNvSpPr/>
          <p:nvPr/>
        </p:nvSpPr>
        <p:spPr>
          <a:xfrm>
            <a:off x="771525" y="2303115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3966120" y="2303115"/>
            <a:ext cx="74543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771525" y="3303240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3966120" y="3303240"/>
            <a:ext cx="74543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771525" y="4303365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3966120" y="4303365"/>
            <a:ext cx="74543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771525" y="5303490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3966120" y="5303490"/>
            <a:ext cx="74543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771525" y="5998815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3966120" y="5998815"/>
            <a:ext cx="74543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762000" y="149572"/>
            <a:ext cx="11201400" cy="66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4338CA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7. Relational Database Schema</a:t>
            </a:r>
            <a:endParaRPr lang="en-US" sz="3600" b="0" i="0" u="none" strike="noStrike" cap="none">
              <a:solidFill>
                <a:srgbClr val="4338CA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1104900" y="1501075"/>
            <a:ext cx="58095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F46E5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Infinite Loop Cap: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If the LLM gets stuck calling tools, a hardcap of step_count = 6 forcefully routes to END and suggests filing a ticket.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1104900" y="2605975"/>
            <a:ext cx="58095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F46E5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Stateless Confirmation: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The pending_action dict is securely passed to the React UI, preventing state loss across HTTP requests during plan changes.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1069725" y="3942400"/>
            <a:ext cx="5809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F46E5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Safe Vector Resets: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"Clear KB" utilizes delete_collection instead of dropping schemas, preserving integrity.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762000" y="571500"/>
            <a:ext cx="11201400" cy="66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4338CA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8. Edge Cases &amp; Handling</a:t>
            </a:r>
            <a:endParaRPr lang="en-US" sz="3600" b="0" i="0" u="none" strike="noStrike" cap="none">
              <a:solidFill>
                <a:srgbClr val="4338CA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pic>
        <p:nvPicPr>
          <p:cNvPr id="261" name="Google Shape;261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2000" y="16477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2000" y="274885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2000" y="4074491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2000" y="2103090"/>
            <a:ext cx="3302049" cy="422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445049" y="2103090"/>
            <a:ext cx="3302049" cy="422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8099" y="2103090"/>
            <a:ext cx="3302049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 txBox="1"/>
          <p:nvPr/>
        </p:nvSpPr>
        <p:spPr>
          <a:xfrm>
            <a:off x="762000" y="145539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Robust fault tolerance is built into the architecture at every layer.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73" name="Google Shape;273;p22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57275" y="249361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 txBox="1"/>
          <p:nvPr/>
        </p:nvSpPr>
        <p:spPr>
          <a:xfrm>
            <a:off x="1057275" y="3484215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Database Resilience</a:t>
            </a:r>
            <a:endParaRPr lang="en-US" sz="2100" b="0" i="0" u="none" strike="noStrike" cap="none">
              <a:solidFill>
                <a:srgbClr val="1E293B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1057275" y="3960465"/>
            <a:ext cx="271149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Uses SQLAlchemy async sessions injected via FastAPI Depends, ensuring DB connections are cleanly rolled back and closed on failure.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76" name="Google Shape;276;p22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740324" y="249361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2"/>
          <p:cNvSpPr txBox="1"/>
          <p:nvPr/>
        </p:nvSpPr>
        <p:spPr>
          <a:xfrm>
            <a:off x="4740324" y="3484215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RAG Failsafes</a:t>
            </a:r>
            <a:endParaRPr lang="en-US" sz="2100" b="0" i="0" u="none" strike="noStrike" cap="none">
              <a:solidFill>
                <a:srgbClr val="1E293B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4740324" y="3960465"/>
            <a:ext cx="27114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Built-in failsafes gracefully return "No knowledge base found" to the LLM instead of crashing the backend if the PGVector schema is empty.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79" name="Google Shape;279;p22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423374" y="249361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2"/>
          <p:cNvSpPr txBox="1"/>
          <p:nvPr/>
        </p:nvSpPr>
        <p:spPr>
          <a:xfrm>
            <a:off x="8423374" y="3484215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Tool Validation</a:t>
            </a:r>
            <a:endParaRPr lang="en-US" sz="2100" b="0" i="0" u="none" strike="noStrike" cap="none">
              <a:solidFill>
                <a:srgbClr val="1E293B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8423374" y="3960465"/>
            <a:ext cx="271149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If a tool fails (e.g., bad parameter), the exact error string is injected back into the LangGraph state so the LLM can self-correct and try again.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82" name="Google Shape;282;p22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247775" y="268411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2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4883199" y="268411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8613874" y="268411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2"/>
          <p:cNvSpPr txBox="1"/>
          <p:nvPr/>
        </p:nvSpPr>
        <p:spPr>
          <a:xfrm>
            <a:off x="762000" y="525809"/>
            <a:ext cx="11201400" cy="66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4338CA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9. Error Handling</a:t>
            </a:r>
            <a:endParaRPr lang="en-US" sz="3600" b="0" i="0" u="none" strike="noStrike" cap="none">
              <a:solidFill>
                <a:srgbClr val="4338CA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4059</Words>
  <Application>WPS Presentation</Application>
  <PresentationFormat/>
  <Paragraphs>148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Inter</vt:lpstr>
      <vt:lpstr>Inter SemiBold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Ziad Ayman</cp:lastModifiedBy>
  <cp:revision>11</cp:revision>
  <dcterms:created xsi:type="dcterms:W3CDTF">2026-07-28T16:13:26Z</dcterms:created>
  <dcterms:modified xsi:type="dcterms:W3CDTF">2026-07-28T16:17:11Z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3847CC35ECCC4BEEBA5D888F12B226CD_12</vt:lpwstr>
  </property>
  <property fmtid="{D5CDD505-2E9C-101B-9397-08002B2CF9AE}" pid="3" name="KSOProductBuildVer">
    <vt:lpwstr>1033-12.1.0.27458</vt:lpwstr>
  </property>
</Properties>
</file>